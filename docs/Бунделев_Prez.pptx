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771" r:id="rId1"/>
    <p:sldMasterId id="2147483657" r:id="rId2"/>
    <p:sldMasterId id="2147483833" r:id="rId3"/>
  </p:sldMasterIdLst>
  <p:notesMasterIdLst>
    <p:notesMasterId r:id="rId12"/>
  </p:notesMasterIdLst>
  <p:handoutMasterIdLst>
    <p:handoutMasterId r:id="rId13"/>
  </p:handoutMasterIdLst>
  <p:sldIdLst>
    <p:sldId id="1171" r:id="rId4"/>
    <p:sldId id="1204" r:id="rId5"/>
    <p:sldId id="1209" r:id="rId6"/>
    <p:sldId id="1210" r:id="rId7"/>
    <p:sldId id="1211" r:id="rId8"/>
    <p:sldId id="1212" r:id="rId9"/>
    <p:sldId id="1213" r:id="rId10"/>
    <p:sldId id="1214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Алексей Малышев" initials="АМ" lastIdx="8" clrIdx="0">
    <p:extLst>
      <p:ext uri="{19B8F6BF-5375-455C-9EA6-DF929625EA0E}">
        <p15:presenceInfo xmlns:p15="http://schemas.microsoft.com/office/powerpoint/2012/main" userId="8ae9c15f625b32bb" providerId="Windows Live"/>
      </p:ext>
    </p:extLst>
  </p:cmAuthor>
  <p:cmAuthor id="2" name="OCTS" initials="O" lastIdx="1" clrIdx="1">
    <p:extLst>
      <p:ext uri="{19B8F6BF-5375-455C-9EA6-DF929625EA0E}">
        <p15:presenceInfo xmlns:p15="http://schemas.microsoft.com/office/powerpoint/2012/main" userId="OCTS" providerId="None"/>
      </p:ext>
    </p:extLst>
  </p:cmAuthor>
  <p:cmAuthor id="3" name="Kostylev Andrey" initials="KA" lastIdx="1" clrIdx="2">
    <p:extLst>
      <p:ext uri="{19B8F6BF-5375-455C-9EA6-DF929625EA0E}">
        <p15:presenceInfo xmlns:p15="http://schemas.microsoft.com/office/powerpoint/2012/main" userId="146efb04217a1102" providerId="Windows Live"/>
      </p:ext>
    </p:extLst>
  </p:cmAuthor>
  <p:cmAuthor id="4" name="Elizaveta Kostyleva" initials="EK" lastIdx="1" clrIdx="3">
    <p:extLst>
      <p:ext uri="{19B8F6BF-5375-455C-9EA6-DF929625EA0E}">
        <p15:presenceInfo xmlns:p15="http://schemas.microsoft.com/office/powerpoint/2012/main" userId="S::ekostyleva@lifevantage.com::e5a115f0-bdb1-48b8-969c-0a472e870de3" providerId="AD"/>
      </p:ext>
    </p:extLst>
  </p:cmAuthor>
  <p:cmAuthor id="5" name="ОЦТС" initials="О" lastIdx="2" clrIdx="4">
    <p:extLst>
      <p:ext uri="{19B8F6BF-5375-455C-9EA6-DF929625EA0E}">
        <p15:presenceInfo xmlns:p15="http://schemas.microsoft.com/office/powerpoint/2012/main" userId="ОЦТС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2C5F"/>
    <a:srgbClr val="005AAA"/>
    <a:srgbClr val="9D9D9D"/>
    <a:srgbClr val="FEFEFE"/>
    <a:srgbClr val="BFBFBF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CF1AB2-1976-4502-BF36-3FF5EA218861}" styleName="Средний стиль 4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009" autoAdjust="0"/>
    <p:restoredTop sz="90520" autoAdjust="0"/>
  </p:normalViewPr>
  <p:slideViewPr>
    <p:cSldViewPr snapToGrid="0" snapToObjects="1">
      <p:cViewPr varScale="1">
        <p:scale>
          <a:sx n="128" d="100"/>
          <a:sy n="128" d="100"/>
        </p:scale>
        <p:origin x="992" y="9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400" d="100"/>
        <a:sy n="400" d="100"/>
      </p:scale>
      <p:origin x="0" y="0"/>
    </p:cViewPr>
  </p:notesTextViewPr>
  <p:sorterViewPr>
    <p:cViewPr>
      <p:scale>
        <a:sx n="66" d="100"/>
        <a:sy n="66" d="100"/>
      </p:scale>
      <p:origin x="0" y="-7146"/>
    </p:cViewPr>
  </p:sorterViewPr>
  <p:notesViewPr>
    <p:cSldViewPr snapToGrid="0" snapToObjects="1">
      <p:cViewPr varScale="1">
        <p:scale>
          <a:sx n="85" d="100"/>
          <a:sy n="85" d="100"/>
        </p:scale>
        <p:origin x="3804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handoutMaster" Target="handoutMasters/handoutMaster1.xml"/><Relationship Id="rId1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presProps" Target="presProps.xml"/><Relationship Id="rId10" Type="http://schemas.openxmlformats.org/officeDocument/2006/relationships/slide" Target="slides/slide7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A78F288-5E3C-4F81-AD43-7789565D295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2D620-2592-455C-9AF4-8E2D0C2F79A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FFCE6C-E7E6-4C35-A8B5-8F9784AA6873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5628E3-CFC5-471A-B6A2-9F949B2E814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586937-338C-4D39-8822-B1F000CF62F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E77762-F59A-4FB1-90F9-50BE76F03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5588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D46D5B-6567-794D-8CBA-5CCA973D6774}" type="datetimeFigureOut">
              <a:t>07.04.2026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EDE2F8-02D4-C448-B364-7246A6689E7F}" type="slidenum"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7934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43E92-AC60-291D-3EC9-EA07BA342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8F0536D-9713-0F86-AFB2-F3F81E1660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ABD31B8-8EA5-545F-C195-8CAFB7A00A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D8A7110-97BB-02F2-21BF-46E99B00A8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EDE2F8-02D4-C448-B364-7246A6689E7F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389496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56A8C-BB71-00A8-FC56-28B2122E8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006A3114-44C1-4ACB-BE7B-3B4C94830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C7D30FE-196C-7687-7A38-5ADC7C37F8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807DB61-FA45-2EC3-5C27-EACE81B28E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EDE2F8-02D4-C448-B364-7246A6689E7F}" type="slidenum">
              <a:rPr lang="ru-RU" smtClean="0"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046840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DB7B3-2D50-8596-DA6A-028B07A3A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1460063-1D4C-BF6E-0DB4-BC66C9050B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F2C5138B-434E-C537-3573-DB2DF72096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F641B3F-3FCC-D6F7-4F21-C0CBC8C1BA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EDE2F8-02D4-C448-B364-7246A6689E7F}" type="slidenum">
              <a:rPr lang="ru-RU" smtClean="0"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80940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8CFB1-EA22-1E9E-7BC8-93110DF0B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345EEB9-8103-5205-D60B-AD53F2753F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8D6AB89-EF9D-90A3-D423-77F77A94E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BB21AC3-D3E0-07A3-D0CD-7A35CE316D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EDE2F8-02D4-C448-B364-7246A6689E7F}" type="slidenum">
              <a:rPr lang="ru-RU" smtClean="0"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794490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7DEBE-7428-AEC2-B72D-2465EBEF8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2C74918-3CB8-6910-91D9-37A1416BC1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4A25F0B7-D40F-D8F8-A297-11DF060798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91FCDAD-616F-1539-0FC9-BF4F911FD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EDE2F8-02D4-C448-B364-7246A6689E7F}" type="slidenum">
              <a:rPr lang="ru-RU" smtClean="0"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921304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53476-9AB2-D56D-9426-87DAD92A9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B31C6C25-6480-B57B-3883-5F4952E403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F0C653ED-D5CA-409F-5190-8396A8CDF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EDAED8C-97C2-E3B7-A2EB-09AE2C512D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EDE2F8-02D4-C448-B364-7246A6689E7F}" type="slidenum">
              <a:rPr lang="ru-RU" smtClean="0"/>
              <a:t>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79487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3FC72-37BE-8195-DDF1-DF0133C3C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AF84A5A-2849-447D-3E41-05379736DE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6265A95-E482-FFAB-E5AC-23FD0770A6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9601E90-6EE4-3185-2EC2-BF8E506C47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EDE2F8-02D4-C448-B364-7246A6689E7F}" type="slidenum">
              <a:rPr lang="ru-RU" smtClean="0"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622570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4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4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ая страниц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76EB76-0898-4F71-9685-0F9BE4E1F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CD38B1-ACC6-416C-AF72-6F91347F95C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4568243"/>
            <a:ext cx="6330950" cy="841155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3pPr marL="914400" indent="0">
              <a:buNone/>
              <a:defRPr/>
            </a:lvl3pPr>
          </a:lstStyle>
          <a:p>
            <a:pPr lvl="0"/>
            <a:r>
              <a:rPr lang="ru-RU" dirty="0"/>
              <a:t>Имя Фамилия 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0C140D7-ACA5-419A-846F-D1888293EFF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52598" y="5993952"/>
            <a:ext cx="3488540" cy="387798"/>
          </a:xfrm>
        </p:spPr>
        <p:txBody>
          <a:bodyPr/>
          <a:lstStyle>
            <a:lvl2pPr>
              <a:defRPr/>
            </a:lvl2pPr>
            <a:lvl3pPr marL="914400" indent="0">
              <a:buNone/>
              <a:defRPr/>
            </a:lvl3pPr>
          </a:lstStyle>
          <a:p>
            <a:pPr lvl="1"/>
            <a:r>
              <a:rPr lang="ru-RU" dirty="0"/>
              <a:t>Дата</a:t>
            </a:r>
          </a:p>
        </p:txBody>
      </p:sp>
    </p:spTree>
    <p:extLst>
      <p:ext uri="{BB962C8B-B14F-4D97-AF65-F5344CB8AC3E}">
        <p14:creationId xmlns:p14="http://schemas.microsoft.com/office/powerpoint/2010/main" val="2891415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 - один бл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D7347E-D0C8-4C5C-B7FE-A4CCFC0D2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84CF1BEE-FB60-4C41-A4CB-1FA10956A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3" y="1341438"/>
            <a:ext cx="7489825" cy="5040312"/>
          </a:xfrm>
        </p:spPr>
        <p:txBody>
          <a:bodyPr numCol="1" spcCol="720000"/>
          <a:lstStyle>
            <a:lvl1pPr>
              <a:spcAft>
                <a:spcPts val="1200"/>
              </a:spcAft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155870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065" userDrawn="1">
          <p15:clr>
            <a:srgbClr val="9FCC3B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 - два бло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D7347E-D0C8-4C5C-B7FE-A4CCFC0D2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84CF1BEE-FB60-4C41-A4CB-1FA10956A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3" y="1341438"/>
            <a:ext cx="5184775" cy="5040312"/>
          </a:xfrm>
        </p:spPr>
        <p:txBody>
          <a:bodyPr numCol="1" spcCol="720000"/>
          <a:lstStyle>
            <a:lvl1pPr>
              <a:spcAft>
                <a:spcPts val="1200"/>
              </a:spcAft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" name="Текст 5">
            <a:extLst>
              <a:ext uri="{FF2B5EF4-FFF2-40B4-BE49-F238E27FC236}">
                <a16:creationId xmlns:a16="http://schemas.microsoft.com/office/drawing/2014/main" id="{C75DE5C1-456E-4D90-87F0-D35E9FD23C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56364" y="1341437"/>
            <a:ext cx="5184775" cy="5040312"/>
          </a:xfrm>
        </p:spPr>
        <p:txBody>
          <a:bodyPr numCol="1" spcCol="720000"/>
          <a:lstStyle>
            <a:lvl1pPr>
              <a:spcAft>
                <a:spcPts val="1200"/>
              </a:spcAft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962484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 - две колонки в одном блок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D7347E-D0C8-4C5C-B7FE-A4CCFC0D2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84CF1BEE-FB60-4C41-A4CB-1FA10956A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3" y="1341438"/>
            <a:ext cx="11090275" cy="5040312"/>
          </a:xfrm>
        </p:spPr>
        <p:txBody>
          <a:bodyPr numCol="2" spcCol="720000"/>
          <a:lstStyle>
            <a:lvl1pPr>
              <a:spcAft>
                <a:spcPts val="1200"/>
              </a:spcAft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097472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D7347E-D0C8-4C5C-B7FE-A4CCFC0D2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717356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вершение презентации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C8354B0-5DDB-49B4-A187-3CEDA1E200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26875" y="5605171"/>
            <a:ext cx="1014262" cy="314912"/>
          </a:xfrm>
          <a:prstGeom prst="rect">
            <a:avLst/>
          </a:prstGeom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188270A5-5B56-4CCE-84C6-4D75D2450723}"/>
              </a:ext>
            </a:extLst>
          </p:cNvPr>
          <p:cNvCxnSpPr>
            <a:cxnSpLocks/>
          </p:cNvCxnSpPr>
          <p:nvPr userDrawn="1"/>
        </p:nvCxnSpPr>
        <p:spPr>
          <a:xfrm>
            <a:off x="550863" y="6010277"/>
            <a:ext cx="11090275" cy="0"/>
          </a:xfrm>
          <a:prstGeom prst="line">
            <a:avLst/>
          </a:prstGeom>
          <a:ln w="15875">
            <a:gradFill>
              <a:gsLst>
                <a:gs pos="0">
                  <a:schemeClr val="accent1"/>
                </a:gs>
                <a:gs pos="54000">
                  <a:schemeClr val="accent3"/>
                </a:gs>
                <a:gs pos="100000">
                  <a:schemeClr val="accent2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2AFB8C0-5C8E-4D3D-ADF9-00059CE618CF}"/>
              </a:ext>
            </a:extLst>
          </p:cNvPr>
          <p:cNvSpPr txBox="1"/>
          <p:nvPr userDrawn="1"/>
        </p:nvSpPr>
        <p:spPr>
          <a:xfrm>
            <a:off x="9541404" y="6179006"/>
            <a:ext cx="209973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dirty="0">
                <a:solidFill>
                  <a:schemeClr val="tx2"/>
                </a:solidFill>
              </a:rPr>
              <a:t>https://guap.ru</a:t>
            </a:r>
            <a:endParaRPr lang="ru-RU" sz="1400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8771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вершение презентации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C8354B0-5DDB-49B4-A187-3CEDA1E200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1843" y="5605171"/>
            <a:ext cx="1014262" cy="314912"/>
          </a:xfrm>
          <a:prstGeom prst="rect">
            <a:avLst/>
          </a:prstGeom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188270A5-5B56-4CCE-84C6-4D75D2450723}"/>
              </a:ext>
            </a:extLst>
          </p:cNvPr>
          <p:cNvCxnSpPr>
            <a:cxnSpLocks/>
          </p:cNvCxnSpPr>
          <p:nvPr userDrawn="1"/>
        </p:nvCxnSpPr>
        <p:spPr>
          <a:xfrm>
            <a:off x="550863" y="6010277"/>
            <a:ext cx="10205243" cy="0"/>
          </a:xfrm>
          <a:prstGeom prst="line">
            <a:avLst/>
          </a:prstGeom>
          <a:ln w="15875">
            <a:gradFill>
              <a:gsLst>
                <a:gs pos="0">
                  <a:schemeClr val="accent1"/>
                </a:gs>
                <a:gs pos="54000">
                  <a:schemeClr val="accent3"/>
                </a:gs>
                <a:gs pos="100000">
                  <a:schemeClr val="accent2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2E00DBC-5DC3-4A2C-A94D-350C2F82CC6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r="5385"/>
          <a:stretch/>
        </p:blipFill>
        <p:spPr>
          <a:xfrm>
            <a:off x="10776480" y="5500691"/>
            <a:ext cx="864658" cy="91387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FC432CA-A470-414A-9A8F-5EF0FAB4F9C9}"/>
              </a:ext>
            </a:extLst>
          </p:cNvPr>
          <p:cNvSpPr txBox="1"/>
          <p:nvPr userDrawn="1"/>
        </p:nvSpPr>
        <p:spPr>
          <a:xfrm>
            <a:off x="8676746" y="6179006"/>
            <a:ext cx="209973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1" dirty="0">
                <a:solidFill>
                  <a:schemeClr val="tx2"/>
                </a:solidFill>
              </a:rPr>
              <a:t>https://guap.ru</a:t>
            </a:r>
            <a:endParaRPr lang="ru-RU" sz="1400" b="1" dirty="0">
              <a:solidFill>
                <a:schemeClr val="tx2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A6AFA2-D81A-4798-AEC0-3F4A7A8C22AC}"/>
              </a:ext>
            </a:extLst>
          </p:cNvPr>
          <p:cNvSpPr txBox="1"/>
          <p:nvPr userDrawn="1"/>
        </p:nvSpPr>
        <p:spPr>
          <a:xfrm>
            <a:off x="571238" y="6179006"/>
            <a:ext cx="320506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b="0" dirty="0">
                <a:solidFill>
                  <a:schemeClr val="bg1">
                    <a:lumMod val="50000"/>
                  </a:schemeClr>
                </a:solidFill>
              </a:rPr>
              <a:t>© </a:t>
            </a:r>
            <a:r>
              <a:rPr lang="ru-RU" sz="1100" b="0" dirty="0">
                <a:solidFill>
                  <a:schemeClr val="bg1">
                    <a:lumMod val="50000"/>
                  </a:schemeClr>
                </a:solidFill>
              </a:rPr>
              <a:t>ГУАП, 2023</a:t>
            </a:r>
            <a:endParaRPr lang="ru-RU" sz="1400" b="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0039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вершение презентации 3 - для выступлени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FFF08F3-1FC8-4409-A953-82A3AF7771C7}"/>
              </a:ext>
            </a:extLst>
          </p:cNvPr>
          <p:cNvSpPr/>
          <p:nvPr userDrawn="1"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tretch>
              <a:fillRect l="-7937" t="-5796" r="-5797" b="-7938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C8354B0-5DDB-49B4-A187-3CEDA1E200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89994" y="1141883"/>
            <a:ext cx="2254761" cy="70006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2E00DBC-5DC3-4A2C-A94D-350C2F82CC6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r="5385"/>
          <a:stretch/>
        </p:blipFill>
        <p:spPr>
          <a:xfrm>
            <a:off x="10363289" y="949059"/>
            <a:ext cx="1303250" cy="137742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FC432CA-A470-414A-9A8F-5EF0FAB4F9C9}"/>
              </a:ext>
            </a:extLst>
          </p:cNvPr>
          <p:cNvSpPr txBox="1"/>
          <p:nvPr userDrawn="1"/>
        </p:nvSpPr>
        <p:spPr>
          <a:xfrm>
            <a:off x="8147402" y="1734228"/>
            <a:ext cx="2099734" cy="2308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457200" marR="0" lvl="1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https://guap.ru</a:t>
            </a:r>
            <a:endParaRPr lang="ru-RU" sz="15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15095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вершение презентации 4 - с контакт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FFF08F3-1FC8-4409-A953-82A3AF7771C7}"/>
              </a:ext>
            </a:extLst>
          </p:cNvPr>
          <p:cNvSpPr/>
          <p:nvPr userDrawn="1"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tretch>
              <a:fillRect l="-7937" t="-5796" r="-5797" b="-7938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C8354B0-5DDB-49B4-A187-3CEDA1E200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89994" y="1141883"/>
            <a:ext cx="2254761" cy="70006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2E00DBC-5DC3-4A2C-A94D-350C2F82CC6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r="5385"/>
          <a:stretch/>
        </p:blipFill>
        <p:spPr>
          <a:xfrm>
            <a:off x="10363289" y="949059"/>
            <a:ext cx="1303250" cy="137742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FC432CA-A470-414A-9A8F-5EF0FAB4F9C9}"/>
              </a:ext>
            </a:extLst>
          </p:cNvPr>
          <p:cNvSpPr txBox="1"/>
          <p:nvPr userDrawn="1"/>
        </p:nvSpPr>
        <p:spPr>
          <a:xfrm>
            <a:off x="8147402" y="1734228"/>
            <a:ext cx="2099734" cy="2308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457200" marR="0" lvl="1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https://guap.ru</a:t>
            </a:r>
            <a:endParaRPr lang="ru-RU" sz="15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3FAF823-6E65-4BE2-B22A-CEAA3977E75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56363" y="3275544"/>
            <a:ext cx="5184775" cy="1997341"/>
          </a:xfrm>
        </p:spPr>
        <p:txBody>
          <a:bodyPr anchor="ctr" anchorCtr="0"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</p:spTree>
    <p:extLst>
      <p:ext uri="{BB962C8B-B14F-4D97-AF65-F5344CB8AC3E}">
        <p14:creationId xmlns:p14="http://schemas.microsoft.com/office/powerpoint/2010/main" val="4001576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3309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sv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slideLayout" Target="../slideLayouts/slideLayout7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DA26B8BC-9AE2-41D8-8A90-8D1C0A2A554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/>
            <a:stretch>
              <a:fillRect l="-7937" t="-5796" r="-5797" b="-7938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5009951-9659-4924-B8D1-D9994BE1E4E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56155"/>
          <a:stretch/>
        </p:blipFill>
        <p:spPr>
          <a:xfrm>
            <a:off x="550865" y="304376"/>
            <a:ext cx="2827336" cy="1095375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39E3CC-EBAD-4C68-8215-E3D1E3388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4" y="2509678"/>
            <a:ext cx="8051638" cy="1325563"/>
          </a:xfrm>
          <a:prstGeom prst="rect">
            <a:avLst/>
          </a:prstGeom>
        </p:spPr>
        <p:txBody>
          <a:bodyPr vert="horz" lIns="0" tIns="0" rIns="0" bIns="0" rtlCol="0" anchor="b" anchorCtr="0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220187D-590C-4FB1-A787-08B69F583E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3" y="4568243"/>
            <a:ext cx="6234948" cy="100478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Дата</a:t>
            </a:r>
          </a:p>
        </p:txBody>
      </p:sp>
    </p:spTree>
    <p:extLst>
      <p:ext uri="{BB962C8B-B14F-4D97-AF65-F5344CB8AC3E}">
        <p14:creationId xmlns:p14="http://schemas.microsoft.com/office/powerpoint/2010/main" val="1624853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3" r:id="rId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r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3200" kern="1200">
          <a:solidFill>
            <a:schemeClr val="accent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 userDrawn="1">
          <p15:clr>
            <a:srgbClr val="F26B43"/>
          </p15:clr>
        </p15:guide>
        <p15:guide id="2" pos="7333" userDrawn="1">
          <p15:clr>
            <a:srgbClr val="F26B43"/>
          </p15:clr>
        </p15:guide>
        <p15:guide id="3" orient="horz" pos="402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EFB9A11F-72FA-0A44-9653-48C9EECB7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07976"/>
            <a:ext cx="9608330" cy="3323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ru-RU" dirty="0"/>
              <a:t>Заголовок слайда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23DE3AE-88ED-4D7E-9545-2150C37B908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26875" y="407976"/>
            <a:ext cx="1014262" cy="314912"/>
          </a:xfrm>
          <a:prstGeom prst="rect">
            <a:avLst/>
          </a:prstGeom>
        </p:spPr>
      </p:pic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95CF6A84-AC35-45BE-AA65-F59DCCC45A75}"/>
              </a:ext>
            </a:extLst>
          </p:cNvPr>
          <p:cNvCxnSpPr>
            <a:cxnSpLocks/>
          </p:cNvCxnSpPr>
          <p:nvPr userDrawn="1"/>
        </p:nvCxnSpPr>
        <p:spPr>
          <a:xfrm>
            <a:off x="550863" y="968502"/>
            <a:ext cx="11090275" cy="0"/>
          </a:xfrm>
          <a:prstGeom prst="line">
            <a:avLst/>
          </a:prstGeom>
          <a:ln w="15875">
            <a:gradFill>
              <a:gsLst>
                <a:gs pos="0">
                  <a:schemeClr val="accent1"/>
                </a:gs>
                <a:gs pos="54000">
                  <a:schemeClr val="accent3"/>
                </a:gs>
                <a:gs pos="100000">
                  <a:schemeClr val="accent2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Текст 2">
            <a:extLst>
              <a:ext uri="{FF2B5EF4-FFF2-40B4-BE49-F238E27FC236}">
                <a16:creationId xmlns:a16="http://schemas.microsoft.com/office/drawing/2014/main" id="{3B768B2F-9C22-468C-B230-607F8CFF75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2" y="1341437"/>
            <a:ext cx="10515600" cy="420166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ru-RU" dirty="0"/>
              <a:t>Подзаголовок</a:t>
            </a:r>
          </a:p>
          <a:p>
            <a:pPr lvl="1"/>
            <a:r>
              <a:rPr lang="ru-RU" dirty="0"/>
              <a:t>Заголовок таблицы</a:t>
            </a:r>
          </a:p>
          <a:p>
            <a:pPr lvl="2"/>
            <a:r>
              <a:rPr lang="ru-RU" dirty="0"/>
              <a:t>Подпись рисунка</a:t>
            </a:r>
          </a:p>
          <a:p>
            <a:pPr lvl="3"/>
            <a:r>
              <a:rPr lang="ru-RU" dirty="0"/>
              <a:t>Текст</a:t>
            </a:r>
          </a:p>
          <a:p>
            <a:pPr lvl="4"/>
            <a:r>
              <a:rPr lang="ru-RU" dirty="0"/>
              <a:t>Выделенный текст</a:t>
            </a:r>
          </a:p>
          <a:p>
            <a:pPr lvl="5"/>
            <a:r>
              <a:rPr lang="ru-RU" dirty="0"/>
              <a:t>Маркеры</a:t>
            </a:r>
          </a:p>
          <a:p>
            <a:pPr lvl="6"/>
            <a:r>
              <a:rPr lang="ru-RU" dirty="0"/>
              <a:t>Нумерация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44A2A7-9511-4B2D-A046-C71363808B05}"/>
              </a:ext>
            </a:extLst>
          </p:cNvPr>
          <p:cNvSpPr txBox="1"/>
          <p:nvPr userDrawn="1"/>
        </p:nvSpPr>
        <p:spPr>
          <a:xfrm>
            <a:off x="9212262" y="6513813"/>
            <a:ext cx="24288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261FCC40-BD7D-499B-BF07-C5DEC022620E}" type="slidenum">
              <a:rPr lang="ru-RU" sz="1200" kern="1200" smtClean="0">
                <a:solidFill>
                  <a:schemeClr val="tx2">
                    <a:lumMod val="90000"/>
                  </a:schemeClr>
                </a:solidFill>
                <a:latin typeface="+mn-lt"/>
                <a:ea typeface="+mn-ea"/>
                <a:cs typeface="+mn-cs"/>
              </a:rPr>
              <a:pPr algn="r"/>
              <a:t>‹#›</a:t>
            </a:fld>
            <a:endParaRPr lang="ru-RU" sz="1200" kern="1200" dirty="0">
              <a:solidFill>
                <a:schemeClr val="tx2">
                  <a:lumMod val="90000"/>
                </a:schemeClr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84128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2" r:id="rId1"/>
    <p:sldLayoutId id="2147483801" r:id="rId2"/>
    <p:sldLayoutId id="2147483759" r:id="rId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000" kern="1200">
          <a:solidFill>
            <a:schemeClr val="tx2">
              <a:lumMod val="90000"/>
              <a:lumOff val="10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800" b="1" kern="1200">
          <a:solidFill>
            <a:schemeClr val="accent1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>
            <a:lumMod val="50000"/>
          </a:schemeClr>
        </a:buClr>
        <a:buSzPct val="120000"/>
        <a:buFont typeface="Wingdings" panose="05000000000000000000" pitchFamily="2" charset="2"/>
        <a:buNone/>
        <a:defRPr sz="1400" b="1" kern="1200">
          <a:solidFill>
            <a:schemeClr val="tx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>
            <a:lumMod val="50000"/>
          </a:schemeClr>
        </a:buClr>
        <a:buFont typeface="+mj-lt"/>
        <a:buNone/>
        <a:tabLst>
          <a:tab pos="269875" algn="l"/>
        </a:tabLst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Wingdings" panose="05000000000000000000" pitchFamily="2" charset="2"/>
        <a:buNone/>
        <a:defRPr sz="1600" b="0" kern="1200">
          <a:solidFill>
            <a:schemeClr val="accent1"/>
          </a:solidFill>
          <a:latin typeface="+mn-lt"/>
          <a:ea typeface="+mn-ea"/>
          <a:cs typeface="+mn-cs"/>
        </a:defRPr>
      </a:lvl5pPr>
      <a:lvl6pPr marL="285750" indent="-28575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2"/>
        </a:buClr>
        <a:buFont typeface="Wingdings" panose="05000000000000000000" pitchFamily="2" charset="2"/>
        <a:buChar char="§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271463" indent="-271463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+mj-lt"/>
        <a:buAutoNum type="arabicPeriod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45" userDrawn="1">
          <p15:clr>
            <a:srgbClr val="F26B43"/>
          </p15:clr>
        </p15:guide>
        <p15:guide id="2" pos="347">
          <p15:clr>
            <a:srgbClr val="F26B43"/>
          </p15:clr>
        </p15:guide>
        <p15:guide id="3" orient="horz" pos="4020">
          <p15:clr>
            <a:srgbClr val="F26B43"/>
          </p15:clr>
        </p15:guide>
        <p15:guide id="4" pos="7333">
          <p15:clr>
            <a:srgbClr val="F26B43"/>
          </p15:clr>
        </p15:guide>
        <p15:guide id="5" pos="3613" userDrawn="1">
          <p15:clr>
            <a:srgbClr val="F26B43"/>
          </p15:clr>
        </p15:guide>
        <p15:guide id="6" pos="4067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EFB9A11F-72FA-0A44-9653-48C9EECB7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07976"/>
            <a:ext cx="9608330" cy="3323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ru-RU" dirty="0"/>
              <a:t>Заголовок слайда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23DE3AE-88ED-4D7E-9545-2150C37B908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26875" y="407976"/>
            <a:ext cx="1014262" cy="314912"/>
          </a:xfrm>
          <a:prstGeom prst="rect">
            <a:avLst/>
          </a:prstGeom>
        </p:spPr>
      </p:pic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95CF6A84-AC35-45BE-AA65-F59DCCC45A75}"/>
              </a:ext>
            </a:extLst>
          </p:cNvPr>
          <p:cNvCxnSpPr>
            <a:cxnSpLocks/>
          </p:cNvCxnSpPr>
          <p:nvPr userDrawn="1"/>
        </p:nvCxnSpPr>
        <p:spPr>
          <a:xfrm>
            <a:off x="550863" y="968502"/>
            <a:ext cx="11090275" cy="0"/>
          </a:xfrm>
          <a:prstGeom prst="line">
            <a:avLst/>
          </a:prstGeom>
          <a:ln w="15875">
            <a:gradFill>
              <a:gsLst>
                <a:gs pos="0">
                  <a:schemeClr val="accent1"/>
                </a:gs>
                <a:gs pos="54000">
                  <a:schemeClr val="accent3"/>
                </a:gs>
                <a:gs pos="100000">
                  <a:schemeClr val="accent2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Текст 2">
            <a:extLst>
              <a:ext uri="{FF2B5EF4-FFF2-40B4-BE49-F238E27FC236}">
                <a16:creationId xmlns:a16="http://schemas.microsoft.com/office/drawing/2014/main" id="{3B768B2F-9C22-468C-B230-607F8CFF75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2" y="1341437"/>
            <a:ext cx="10515600" cy="420166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ru-RU" dirty="0"/>
              <a:t>Подзаголовок</a:t>
            </a:r>
          </a:p>
          <a:p>
            <a:pPr lvl="1"/>
            <a:r>
              <a:rPr lang="ru-RU" dirty="0"/>
              <a:t>Заголовок таблицы</a:t>
            </a:r>
          </a:p>
          <a:p>
            <a:pPr lvl="2"/>
            <a:r>
              <a:rPr lang="ru-RU" dirty="0"/>
              <a:t>Подпись рисунка</a:t>
            </a:r>
          </a:p>
          <a:p>
            <a:pPr lvl="3"/>
            <a:r>
              <a:rPr lang="ru-RU" dirty="0"/>
              <a:t>Текст</a:t>
            </a:r>
          </a:p>
          <a:p>
            <a:pPr lvl="4"/>
            <a:r>
              <a:rPr lang="ru-RU" dirty="0"/>
              <a:t>Выделенный текст</a:t>
            </a:r>
          </a:p>
          <a:p>
            <a:pPr lvl="5"/>
            <a:r>
              <a:rPr lang="ru-RU" dirty="0"/>
              <a:t>Маркеры</a:t>
            </a:r>
          </a:p>
          <a:p>
            <a:pPr lvl="6"/>
            <a:r>
              <a:rPr lang="ru-RU" dirty="0"/>
              <a:t>Нумерация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14C9C7-3F3B-4FAE-B19C-B28F0A67B7F7}"/>
              </a:ext>
            </a:extLst>
          </p:cNvPr>
          <p:cNvSpPr txBox="1"/>
          <p:nvPr userDrawn="1"/>
        </p:nvSpPr>
        <p:spPr>
          <a:xfrm>
            <a:off x="9212262" y="6513813"/>
            <a:ext cx="24288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261FCC40-BD7D-499B-BF07-C5DEC022620E}" type="slidenum">
              <a:rPr lang="ru-RU" sz="1200" kern="1200" smtClean="0">
                <a:solidFill>
                  <a:schemeClr val="tx2">
                    <a:lumMod val="90000"/>
                  </a:schemeClr>
                </a:solidFill>
                <a:latin typeface="+mn-lt"/>
                <a:ea typeface="+mn-ea"/>
                <a:cs typeface="+mn-cs"/>
              </a:rPr>
              <a:pPr algn="r"/>
              <a:t>‹#›</a:t>
            </a:fld>
            <a:endParaRPr lang="ru-RU" sz="1200" kern="1200" dirty="0">
              <a:solidFill>
                <a:schemeClr val="tx2">
                  <a:lumMod val="90000"/>
                </a:schemeClr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96249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6" r:id="rId2"/>
    <p:sldLayoutId id="2147483847" r:id="rId3"/>
    <p:sldLayoutId id="2147483849" r:id="rId4"/>
    <p:sldLayoutId id="2147483850" r:id="rId5"/>
    <p:sldLayoutId id="2147483843" r:id="rId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000" kern="1200">
          <a:solidFill>
            <a:schemeClr val="tx2">
              <a:lumMod val="90000"/>
              <a:lumOff val="10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800" b="1" kern="1200">
          <a:solidFill>
            <a:schemeClr val="accent1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>
            <a:lumMod val="50000"/>
          </a:schemeClr>
        </a:buClr>
        <a:buSzPct val="120000"/>
        <a:buFont typeface="Wingdings" panose="05000000000000000000" pitchFamily="2" charset="2"/>
        <a:buNone/>
        <a:defRPr sz="1400" b="1" kern="1200">
          <a:solidFill>
            <a:schemeClr val="tx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>
            <a:lumMod val="50000"/>
          </a:schemeClr>
        </a:buClr>
        <a:buFont typeface="+mj-lt"/>
        <a:buNone/>
        <a:tabLst>
          <a:tab pos="269875" algn="l"/>
        </a:tabLst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Wingdings" panose="05000000000000000000" pitchFamily="2" charset="2"/>
        <a:buNone/>
        <a:defRPr sz="1600" b="0" kern="1200">
          <a:solidFill>
            <a:schemeClr val="accent1"/>
          </a:solidFill>
          <a:latin typeface="+mn-lt"/>
          <a:ea typeface="+mn-ea"/>
          <a:cs typeface="+mn-cs"/>
        </a:defRPr>
      </a:lvl5pPr>
      <a:lvl6pPr marL="285750" indent="-28575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2"/>
        </a:buClr>
        <a:buFont typeface="Wingdings" panose="05000000000000000000" pitchFamily="2" charset="2"/>
        <a:buChar char="§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271463" indent="-271463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+mj-lt"/>
        <a:buAutoNum type="arabicPeriod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45" userDrawn="1">
          <p15:clr>
            <a:srgbClr val="F26B43"/>
          </p15:clr>
        </p15:guide>
        <p15:guide id="2" pos="347">
          <p15:clr>
            <a:srgbClr val="F26B43"/>
          </p15:clr>
        </p15:guide>
        <p15:guide id="3" orient="horz" pos="4020">
          <p15:clr>
            <a:srgbClr val="F26B43"/>
          </p15:clr>
        </p15:guide>
        <p15:guide id="4" pos="7333">
          <p15:clr>
            <a:srgbClr val="F26B43"/>
          </p15:clr>
        </p15:guide>
        <p15:guide id="5" pos="4067" userDrawn="1">
          <p15:clr>
            <a:srgbClr val="F26B43"/>
          </p15:clr>
        </p15:guide>
        <p15:guide id="6" pos="361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A5BC97-99E1-4827-A5AA-5E9EBED1B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2509678"/>
            <a:ext cx="8105858" cy="1325563"/>
          </a:xfrm>
        </p:spPr>
        <p:txBody>
          <a:bodyPr>
            <a:normAutofit/>
          </a:bodyPr>
          <a:lstStyle/>
          <a:p>
            <a:r>
              <a:rPr lang="ru-RU" dirty="0"/>
              <a:t>CRM-система для ведения студенческих проектов «</a:t>
            </a:r>
            <a:r>
              <a:rPr lang="ru-RU" dirty="0" err="1"/>
              <a:t>MadProjects</a:t>
            </a:r>
            <a:r>
              <a:rPr lang="ru-RU" dirty="0"/>
              <a:t>»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1EA8D34-BBBA-48A9-9B83-130C3E8DC9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ru-RU" dirty="0"/>
              <a:t>Автор</a:t>
            </a:r>
            <a:r>
              <a:rPr lang="en-US" dirty="0"/>
              <a:t>: </a:t>
            </a:r>
            <a:r>
              <a:rPr lang="ru-RU" dirty="0" err="1"/>
              <a:t>Бунделев</a:t>
            </a:r>
            <a:r>
              <a:rPr lang="ru-RU" dirty="0"/>
              <a:t> Илья Алексеевич</a:t>
            </a:r>
          </a:p>
          <a:p>
            <a:r>
              <a:rPr lang="ru-RU" dirty="0"/>
              <a:t>Науч. рук.</a:t>
            </a:r>
            <a:r>
              <a:rPr lang="en-US" dirty="0"/>
              <a:t>: </a:t>
            </a:r>
            <a:r>
              <a:rPr lang="ru-RU" dirty="0"/>
              <a:t>Чернышев Станислав Андреевич</a:t>
            </a:r>
          </a:p>
          <a:p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C26AC53-244B-4289-B3B5-D31C1BFD52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 fontScale="92500" lnSpcReduction="20000"/>
          </a:bodyPr>
          <a:lstStyle/>
          <a:p>
            <a:pPr lvl="1"/>
            <a:r>
              <a:rPr lang="ru-RU" dirty="0"/>
              <a:t>2025</a:t>
            </a:r>
          </a:p>
        </p:txBody>
      </p:sp>
    </p:spTree>
    <p:extLst>
      <p:ext uri="{BB962C8B-B14F-4D97-AF65-F5344CB8AC3E}">
        <p14:creationId xmlns:p14="http://schemas.microsoft.com/office/powerpoint/2010/main" val="27058158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D8A1E-F44C-C321-4273-819B6BA2E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838B4C9A-2FA4-0CB6-9EAF-653F65E49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и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39F9341-EAA0-CE9F-D596-5B6BF31772D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1341438"/>
            <a:ext cx="4089560" cy="5040312"/>
          </a:xfrm>
        </p:spPr>
        <p:txBody>
          <a:bodyPr>
            <a:normAutofit/>
          </a:bodyPr>
          <a:lstStyle/>
          <a:p>
            <a:pPr marL="0" lvl="5" indent="0">
              <a:lnSpc>
                <a:spcPct val="120000"/>
              </a:lnSpc>
              <a:buNone/>
            </a:pPr>
            <a:r>
              <a:rPr lang="ru-RU" b="1" dirty="0"/>
              <a:t>Цель работы</a:t>
            </a:r>
            <a:br>
              <a:rPr lang="ru-RU" dirty="0"/>
            </a:br>
            <a:r>
              <a:rPr lang="ru-RU" dirty="0"/>
              <a:t>Разработка кроссплатформенного KMP-приложения (</a:t>
            </a:r>
            <a:r>
              <a:rPr lang="ru-RU" dirty="0" err="1"/>
              <a:t>Android</a:t>
            </a:r>
            <a:r>
              <a:rPr lang="ru-RU" dirty="0"/>
              <a:t>/</a:t>
            </a:r>
            <a:r>
              <a:rPr lang="ru-RU" dirty="0" err="1"/>
              <a:t>iOS</a:t>
            </a:r>
            <a:r>
              <a:rPr lang="ru-RU" dirty="0"/>
              <a:t>) для управления жизненным циклом учебных проектов и автоматизации взаимодействия студентов и преподавателей.</a:t>
            </a:r>
          </a:p>
        </p:txBody>
      </p:sp>
      <p:sp>
        <p:nvSpPr>
          <p:cNvPr id="2" name="Текст 4">
            <a:extLst>
              <a:ext uri="{FF2B5EF4-FFF2-40B4-BE49-F238E27FC236}">
                <a16:creationId xmlns:a16="http://schemas.microsoft.com/office/drawing/2014/main" id="{C6A2AA68-585E-2B38-BCAF-2AF566B41D45}"/>
              </a:ext>
            </a:extLst>
          </p:cNvPr>
          <p:cNvSpPr txBox="1">
            <a:spLocks/>
          </p:cNvSpPr>
          <p:nvPr/>
        </p:nvSpPr>
        <p:spPr>
          <a:xfrm>
            <a:off x="5264150" y="1341438"/>
            <a:ext cx="6376986" cy="5040312"/>
          </a:xfrm>
          <a:prstGeom prst="rect">
            <a:avLst/>
          </a:prstGeom>
        </p:spPr>
        <p:txBody>
          <a:bodyPr vert="horz" lIns="0" tIns="0" rIns="0" bIns="0" numCol="1" spcCol="720000" rtlCol="0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kern="1200">
                <a:solidFill>
                  <a:schemeClr val="tx2">
                    <a:lumMod val="90000"/>
                    <a:lumOff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>
                <a:schemeClr val="accent1">
                  <a:lumMod val="50000"/>
                </a:schemeClr>
              </a:buClr>
              <a:buSzPct val="120000"/>
              <a:buFont typeface="Wingdings" panose="05000000000000000000" pitchFamily="2" charset="2"/>
              <a:buNone/>
              <a:defRPr sz="14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>
                <a:schemeClr val="accent1">
                  <a:lumMod val="50000"/>
                </a:schemeClr>
              </a:buClr>
              <a:buFont typeface="+mj-lt"/>
              <a:buNone/>
              <a:tabLst>
                <a:tab pos="269875" algn="l"/>
              </a:tabLst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None/>
              <a:defRPr sz="1600" b="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2857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1463" indent="-271463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5" indent="0">
              <a:lnSpc>
                <a:spcPct val="120000"/>
              </a:lnSpc>
              <a:buNone/>
            </a:pPr>
            <a:r>
              <a:rPr lang="ru-RU" b="1" dirty="0"/>
              <a:t>Задачи работы</a:t>
            </a:r>
          </a:p>
          <a:p>
            <a:pPr lvl="5">
              <a:lnSpc>
                <a:spcPct val="120000"/>
              </a:lnSpc>
            </a:pPr>
            <a:r>
              <a:rPr lang="ru-RU" dirty="0"/>
              <a:t>Разработать кроссплатформенное приложение, обеспечивающее единый пользовательский опыт на </a:t>
            </a:r>
            <a:r>
              <a:rPr lang="ru-RU" dirty="0" err="1"/>
              <a:t>Android</a:t>
            </a:r>
            <a:r>
              <a:rPr lang="ru-RU" dirty="0"/>
              <a:t> и </a:t>
            </a:r>
            <a:r>
              <a:rPr lang="ru-RU" dirty="0" err="1"/>
              <a:t>iOS</a:t>
            </a:r>
            <a:r>
              <a:rPr lang="ru-RU" dirty="0"/>
              <a:t>.</a:t>
            </a:r>
          </a:p>
          <a:p>
            <a:pPr lvl="5">
              <a:lnSpc>
                <a:spcPct val="120000"/>
              </a:lnSpc>
            </a:pPr>
            <a:r>
              <a:rPr lang="ru-RU" dirty="0"/>
              <a:t>Обеспечить в приложении работу с учебными проектами: создание, вступление и ведение проекта.</a:t>
            </a:r>
          </a:p>
          <a:p>
            <a:pPr lvl="5">
              <a:lnSpc>
                <a:spcPct val="120000"/>
              </a:lnSpc>
            </a:pPr>
            <a:r>
              <a:rPr lang="ru-RU" dirty="0"/>
              <a:t>Реализовать планирование и контроль выполнения через канбан-доску и спринты.</a:t>
            </a:r>
          </a:p>
          <a:p>
            <a:pPr lvl="5">
              <a:lnSpc>
                <a:spcPct val="120000"/>
              </a:lnSpc>
            </a:pPr>
            <a:r>
              <a:rPr lang="ru-RU" dirty="0"/>
              <a:t>Обеспечить командное взаимодействие участников через встроенные чаты проекта.</a:t>
            </a:r>
          </a:p>
          <a:p>
            <a:pPr lvl="5">
              <a:lnSpc>
                <a:spcPct val="120000"/>
              </a:lnSpc>
            </a:pPr>
            <a:r>
              <a:rPr lang="ru-RU" dirty="0"/>
              <a:t>Предоставить преподавателю инструменты контроля статуса и оценки активности команды.</a:t>
            </a:r>
          </a:p>
          <a:p>
            <a:pPr marL="0" lvl="5" indent="0">
              <a:lnSpc>
                <a:spcPct val="120000"/>
              </a:lnSpc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569555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8FD7C-235A-1721-A70C-3AE96C228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FC60863D-1DF3-C70A-7F03-CB34E2930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 Ключевые возможности 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87E4A82-FDD7-9198-B022-571FD9AE51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1341438"/>
            <a:ext cx="3666573" cy="5040312"/>
          </a:xfrm>
        </p:spPr>
        <p:txBody>
          <a:bodyPr>
            <a:normAutofit/>
          </a:bodyPr>
          <a:lstStyle/>
          <a:p>
            <a:pPr lvl="5">
              <a:lnSpc>
                <a:spcPct val="120000"/>
              </a:lnSpc>
            </a:pPr>
            <a:r>
              <a:rPr lang="ru-RU" dirty="0"/>
              <a:t>Управление проектами: Канбан-доски, спринты, чаты (общие, приватные, по задачам).</a:t>
            </a:r>
          </a:p>
          <a:p>
            <a:pPr lvl="5">
              <a:lnSpc>
                <a:spcPct val="120000"/>
              </a:lnSpc>
            </a:pPr>
            <a:r>
              <a:rPr lang="ru-RU" dirty="0"/>
              <a:t>Интеграция с </a:t>
            </a:r>
            <a:r>
              <a:rPr lang="ru-RU" dirty="0" err="1"/>
              <a:t>GitHub</a:t>
            </a:r>
            <a:r>
              <a:rPr lang="ru-RU" dirty="0"/>
              <a:t>: Автоматический учет активности и коммитов.</a:t>
            </a:r>
          </a:p>
          <a:p>
            <a:pPr lvl="5">
              <a:lnSpc>
                <a:spcPct val="120000"/>
              </a:lnSpc>
            </a:pPr>
            <a:r>
              <a:rPr lang="ru-RU" dirty="0"/>
              <a:t>Прозрачность процесса: Преподаватели видят прогресс, студенты получают своевременную обратную связь.</a:t>
            </a:r>
          </a:p>
          <a:p>
            <a:pPr lvl="5">
              <a:lnSpc>
                <a:spcPct val="120000"/>
              </a:lnSpc>
            </a:pPr>
            <a:r>
              <a:rPr lang="ru-RU" dirty="0"/>
              <a:t>Встроенная аналитика: Дашборды и отчеты для оценки прогресса и выставления оценок.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4DC811D-1A5A-0C66-4C88-84A880858D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3079" y="1341438"/>
            <a:ext cx="2568540" cy="3482348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752E48F-AFD8-83C4-D73F-55596E1E0F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3079" y="4889240"/>
            <a:ext cx="2568540" cy="1860675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B30809B6-2C81-A6AC-7429-1AA168B6DF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919" y="1341439"/>
            <a:ext cx="2170685" cy="1470185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EFD1A61-0BE1-9FD3-C471-F2B5D3487E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61972" y="2027852"/>
            <a:ext cx="2756803" cy="4409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33583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4FC59-067E-A15D-2833-DEFCA13D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FFD87AD7-A0C4-CC64-6392-8BA470038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 Технологический стек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CC0F2A9-5EBC-310A-DC82-92D9478836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1341438"/>
            <a:ext cx="5284786" cy="5040312"/>
          </a:xfrm>
        </p:spPr>
        <p:txBody>
          <a:bodyPr>
            <a:normAutofit/>
          </a:bodyPr>
          <a:lstStyle/>
          <a:p>
            <a:pPr lvl="5">
              <a:lnSpc>
                <a:spcPct val="120000"/>
              </a:lnSpc>
            </a:pPr>
            <a:r>
              <a:rPr lang="ru-RU" dirty="0"/>
              <a:t>Бэкенд: </a:t>
            </a:r>
            <a:r>
              <a:rPr lang="en-US" dirty="0"/>
              <a:t>Kotlin + </a:t>
            </a:r>
            <a:r>
              <a:rPr lang="en-US" dirty="0" err="1"/>
              <a:t>Ktor</a:t>
            </a:r>
            <a:r>
              <a:rPr lang="en-US" dirty="0"/>
              <a:t> (</a:t>
            </a:r>
            <a:r>
              <a:rPr lang="ru-RU" dirty="0"/>
              <a:t>высокая производительность, асинхронность)</a:t>
            </a:r>
          </a:p>
          <a:p>
            <a:pPr lvl="5">
              <a:lnSpc>
                <a:spcPct val="120000"/>
              </a:lnSpc>
            </a:pPr>
            <a:r>
              <a:rPr lang="ru-RU" dirty="0"/>
              <a:t>Приложение</a:t>
            </a:r>
            <a:r>
              <a:rPr lang="en-US" dirty="0"/>
              <a:t>: KMP (</a:t>
            </a:r>
            <a:r>
              <a:rPr lang="ru-RU" dirty="0"/>
              <a:t>унификация для всех систем)</a:t>
            </a:r>
          </a:p>
          <a:p>
            <a:pPr lvl="5">
              <a:lnSpc>
                <a:spcPct val="120000"/>
              </a:lnSpc>
            </a:pPr>
            <a:r>
              <a:rPr lang="ru-RU" dirty="0"/>
              <a:t>Целевые ОС</a:t>
            </a:r>
            <a:r>
              <a:rPr lang="en-US" dirty="0"/>
              <a:t>: Android, IOS</a:t>
            </a:r>
            <a:endParaRPr lang="ru-RU" dirty="0"/>
          </a:p>
          <a:p>
            <a:pPr lvl="5">
              <a:lnSpc>
                <a:spcPct val="120000"/>
              </a:lnSpc>
            </a:pPr>
            <a:r>
              <a:rPr lang="ru-RU" dirty="0"/>
              <a:t>База данных: </a:t>
            </a:r>
            <a:r>
              <a:rPr lang="en-US" dirty="0"/>
              <a:t>PostgreSQL (</a:t>
            </a:r>
            <a:r>
              <a:rPr lang="ru-RU" dirty="0"/>
              <a:t>надежное хранение данных)</a:t>
            </a:r>
          </a:p>
          <a:p>
            <a:pPr lvl="5">
              <a:lnSpc>
                <a:spcPct val="120000"/>
              </a:lnSpc>
            </a:pPr>
            <a:r>
              <a:rPr lang="ru-RU" dirty="0"/>
              <a:t>Деплой: </a:t>
            </a:r>
            <a:r>
              <a:rPr lang="en-US" dirty="0"/>
              <a:t>Docker</a:t>
            </a:r>
            <a:endParaRPr lang="ru-RU" dirty="0"/>
          </a:p>
        </p:txBody>
      </p:sp>
      <p:pic>
        <p:nvPicPr>
          <p:cNvPr id="2050" name="Picture 2" descr="GitHub - ktorio/ktor: Framework for quickly creating connected applications  in Kotlin with minimal effort">
            <a:extLst>
              <a:ext uri="{FF2B5EF4-FFF2-40B4-BE49-F238E27FC236}">
                <a16:creationId xmlns:a16="http://schemas.microsoft.com/office/drawing/2014/main" id="{5A468302-E9EF-9450-136A-3EF807EF30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1798" y="1022434"/>
            <a:ext cx="2755023" cy="1147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В Ria.ru поменяли Oracle на PostgreSQL : Компания Postgres Professional">
            <a:extLst>
              <a:ext uri="{FF2B5EF4-FFF2-40B4-BE49-F238E27FC236}">
                <a16:creationId xmlns:a16="http://schemas.microsoft.com/office/drawing/2014/main" id="{1B137CF6-FD49-F11A-159F-62F65A8AD0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7996" y="2541186"/>
            <a:ext cx="2472633" cy="1134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>
            <a:extLst>
              <a:ext uri="{FF2B5EF4-FFF2-40B4-BE49-F238E27FC236}">
                <a16:creationId xmlns:a16="http://schemas.microsoft.com/office/drawing/2014/main" id="{7DB34DF2-DBF6-26FA-88EB-76691354C8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4613" y="2064622"/>
            <a:ext cx="2556711" cy="581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0E9FFC0C-9F90-2A12-016A-678B540EEC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4488205"/>
            <a:ext cx="2472634" cy="16140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F65FAB24-9B74-758A-965F-BC6399E1E1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8401" y="4211793"/>
            <a:ext cx="2756114" cy="17075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8284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F2E91-9689-3F2B-A53F-6F59B9F8A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A901BEC3-A04B-F6DF-2F20-319AEE3B4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EFC04D0-078C-14D6-4CBE-7FC8D9941DD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1341438"/>
            <a:ext cx="6068390" cy="5040312"/>
          </a:xfrm>
        </p:spPr>
        <p:txBody>
          <a:bodyPr>
            <a:normAutofit/>
          </a:bodyPr>
          <a:lstStyle/>
          <a:p>
            <a:pPr marL="0" lvl="5" indent="0">
              <a:lnSpc>
                <a:spcPct val="120000"/>
              </a:lnSpc>
              <a:buNone/>
            </a:pPr>
            <a:r>
              <a:rPr lang="ru-RU" dirty="0"/>
              <a:t>Архитектура: Трехслойная (Domain, Data, </a:t>
            </a:r>
            <a:r>
              <a:rPr lang="ru-RU" dirty="0" err="1"/>
              <a:t>Presentation</a:t>
            </a:r>
            <a:r>
              <a:rPr lang="ru-RU" dirty="0"/>
              <a:t>) для чистоты кода и масштабируемости.</a:t>
            </a:r>
          </a:p>
          <a:p>
            <a:pPr marL="0" lvl="5" indent="0">
              <a:lnSpc>
                <a:spcPct val="120000"/>
              </a:lnSpc>
              <a:buNone/>
            </a:pPr>
            <a:r>
              <a:rPr lang="ru-RU" dirty="0"/>
              <a:t>Real-</a:t>
            </a:r>
            <a:r>
              <a:rPr lang="ru-RU" dirty="0" err="1"/>
              <a:t>time</a:t>
            </a:r>
            <a:r>
              <a:rPr lang="ru-RU" dirty="0"/>
              <a:t> обновления:</a:t>
            </a:r>
          </a:p>
          <a:p>
            <a:pPr lvl="5">
              <a:lnSpc>
                <a:spcPct val="120000"/>
              </a:lnSpc>
            </a:pPr>
            <a:r>
              <a:rPr lang="ru-RU" dirty="0" err="1"/>
              <a:t>WebSocket</a:t>
            </a:r>
            <a:r>
              <a:rPr lang="ru-RU" dirty="0"/>
              <a:t>: Все вкладки пользователя используют одно соединение, что снижает нагрузку на сервер.</a:t>
            </a:r>
          </a:p>
          <a:p>
            <a:pPr lvl="5">
              <a:lnSpc>
                <a:spcPct val="120000"/>
              </a:lnSpc>
            </a:pPr>
            <a:r>
              <a:rPr lang="ru-RU" dirty="0" err="1"/>
              <a:t>Backflow</a:t>
            </a:r>
            <a:r>
              <a:rPr lang="ru-RU" dirty="0"/>
              <a:t> Manager: Мгновенная доставка изменений (например, перемещение карточки в канбане) всем участникам проекта.</a:t>
            </a:r>
          </a:p>
          <a:p>
            <a:pPr marL="0" lvl="5" indent="0">
              <a:lnSpc>
                <a:spcPct val="120000"/>
              </a:lnSpc>
              <a:buNone/>
            </a:pPr>
            <a:r>
              <a:rPr lang="ru-RU" dirty="0"/>
              <a:t>Безопасность: JWT-авторизация и HTTPS.</a:t>
            </a:r>
          </a:p>
        </p:txBody>
      </p:sp>
      <p:pic>
        <p:nvPicPr>
          <p:cNvPr id="2" name="Рисунок 1" descr="Изображение выглядит как снимок экрана, текст,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96CA0FA2-A57B-4448-E755-5F99808E87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9254" y="1090411"/>
            <a:ext cx="5021882" cy="5331086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Рисунок 5" descr="Изображение выглядит как диаграмма, линия, План, текст&#10;&#10;Автоматически созданное описание">
            <a:extLst>
              <a:ext uri="{FF2B5EF4-FFF2-40B4-BE49-F238E27FC236}">
                <a16:creationId xmlns:a16="http://schemas.microsoft.com/office/drawing/2014/main" id="{1A325D42-5514-9544-72C4-9A825DB144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3" y="5143574"/>
            <a:ext cx="5687511" cy="125804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80449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DD7B1-9E4D-5975-11D4-06EA280DE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1ED21607-7B5D-8341-D935-38AA91510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Демонстрация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645849B-67DE-9A7B-B24F-86B751F824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63" y="1158551"/>
            <a:ext cx="2476845" cy="2795977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ABD020F-3DB5-6F2B-7AAB-04A454BAB7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518" y="4060167"/>
            <a:ext cx="2569534" cy="263393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7F8FDEF-21DB-E7F9-496B-F332170442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88388" y="1158551"/>
            <a:ext cx="4120592" cy="4984836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8AFB4927-0F45-A7FA-EAF2-E9393E5C88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86306" y="1158551"/>
            <a:ext cx="2798764" cy="203676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629B3BCE-2FB3-4774-D0AE-3206B1EE0F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86306" y="3429695"/>
            <a:ext cx="2798764" cy="3289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0721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39A52-A0CC-665E-3E6C-BD06F8329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EDD3AED8-E046-BF25-7DF7-0F8092FAD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Демонстрация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E3A4AB1-62F0-6C8C-DEBB-3AED2507B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74" y="1094791"/>
            <a:ext cx="2638062" cy="5694784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3E8FC17-3B67-2220-65D4-F604DC4D42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9214" y="1094791"/>
            <a:ext cx="2669899" cy="5694784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CA74EE0-90CC-A763-7604-BBEFCF87CF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2091" y="1073862"/>
            <a:ext cx="2590970" cy="5784138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94E1CE16-8D5F-686B-604F-46E361077B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6039" y="1073862"/>
            <a:ext cx="2452123" cy="2608746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46BA1D5-84B6-24D0-89F0-8F673F5C61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46039" y="3702183"/>
            <a:ext cx="2544879" cy="3087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895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FC6DB-F633-5F00-2191-818DDF4B6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698055C3-13CF-603F-C5F9-19A971CDD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07976"/>
            <a:ext cx="9608330" cy="332399"/>
          </a:xfrm>
        </p:spPr>
        <p:txBody>
          <a:bodyPr/>
          <a:lstStyle/>
          <a:p>
            <a:r>
              <a:rPr lang="ru-RU" dirty="0"/>
              <a:t>Демонстрация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8D248DB-D0CF-3F0B-7A86-F3878700FF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63" y="1125894"/>
            <a:ext cx="3926996" cy="4471997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518BB89-4763-094D-B392-7CED1E80DA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3198" y="1125894"/>
            <a:ext cx="3005603" cy="243240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1D973E6E-B3A6-38B2-0A9C-830084117E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135" y="1125894"/>
            <a:ext cx="2808601" cy="4220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468394"/>
      </p:ext>
    </p:extLst>
  </p:cSld>
  <p:clrMapOvr>
    <a:masterClrMapping/>
  </p:clrMapOvr>
</p:sld>
</file>

<file path=ppt/theme/theme1.xml><?xml version="1.0" encoding="utf-8"?>
<a:theme xmlns:a="http://schemas.openxmlformats.org/drawingml/2006/main" name="Титульная страница">
  <a:themeElements>
    <a:clrScheme name="Палитра ГУАП">
      <a:dk1>
        <a:srgbClr val="242834"/>
      </a:dk1>
      <a:lt1>
        <a:srgbClr val="FFFFFF"/>
      </a:lt1>
      <a:dk2>
        <a:srgbClr val="002C5F"/>
      </a:dk2>
      <a:lt2>
        <a:srgbClr val="FFFFFF"/>
      </a:lt2>
      <a:accent1>
        <a:srgbClr val="005AAA"/>
      </a:accent1>
      <a:accent2>
        <a:srgbClr val="E70F47"/>
      </a:accent2>
      <a:accent3>
        <a:srgbClr val="00BEF3"/>
      </a:accent3>
      <a:accent4>
        <a:srgbClr val="9269C9"/>
      </a:accent4>
      <a:accent5>
        <a:srgbClr val="FF6418"/>
      </a:accent5>
      <a:accent6>
        <a:srgbClr val="009A49"/>
      </a:accent6>
      <a:hlink>
        <a:srgbClr val="4E41CC"/>
      </a:hlink>
      <a:folHlink>
        <a:srgbClr val="D65D8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ГУАП презентация курса.potx" id="{0DF838E0-DD05-488A-AC6B-E98ACB4C24AD}" vid="{75426110-BF82-4921-B51E-81780A536C48}"/>
    </a:ext>
  </a:extLst>
</a:theme>
</file>

<file path=ppt/theme/theme2.xml><?xml version="1.0" encoding="utf-8"?>
<a:theme xmlns:a="http://schemas.openxmlformats.org/drawingml/2006/main" name="Текстовые блоки">
  <a:themeElements>
    <a:clrScheme name="Палитра ГУАП">
      <a:dk1>
        <a:srgbClr val="242834"/>
      </a:dk1>
      <a:lt1>
        <a:srgbClr val="FFFFFF"/>
      </a:lt1>
      <a:dk2>
        <a:srgbClr val="002C5F"/>
      </a:dk2>
      <a:lt2>
        <a:srgbClr val="FFFFFF"/>
      </a:lt2>
      <a:accent1>
        <a:srgbClr val="005AAA"/>
      </a:accent1>
      <a:accent2>
        <a:srgbClr val="E70F47"/>
      </a:accent2>
      <a:accent3>
        <a:srgbClr val="00BEF3"/>
      </a:accent3>
      <a:accent4>
        <a:srgbClr val="9269C9"/>
      </a:accent4>
      <a:accent5>
        <a:srgbClr val="FF6418"/>
      </a:accent5>
      <a:accent6>
        <a:srgbClr val="009A49"/>
      </a:accent6>
      <a:hlink>
        <a:srgbClr val="4E41CC"/>
      </a:hlink>
      <a:folHlink>
        <a:srgbClr val="D65D8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16200000" scaled="1"/>
          <a:tileRect/>
        </a:gradFill>
        <a:ln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2"/>
            </a:solidFill>
          </a:defRPr>
        </a:defPPr>
      </a:lstStyle>
      <a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a:style>
    </a:spDef>
  </a:objectDefaults>
  <a:extraClrSchemeLst/>
  <a:extLst>
    <a:ext uri="{05A4C25C-085E-4340-85A3-A5531E510DB2}">
      <thm15:themeFamily xmlns:thm15="http://schemas.microsoft.com/office/thememl/2012/main" name="ГУАП презентация курса.potx" id="{0DF838E0-DD05-488A-AC6B-E98ACB4C24AD}" vid="{8C20C85A-CFD0-4C40-80A0-6689F915CE1B}"/>
    </a:ext>
  </a:extLst>
</a:theme>
</file>

<file path=ppt/theme/theme3.xml><?xml version="1.0" encoding="utf-8"?>
<a:theme xmlns:a="http://schemas.openxmlformats.org/drawingml/2006/main" name="Дополнительные блоки">
  <a:themeElements>
    <a:clrScheme name="Палитра ГУАП">
      <a:dk1>
        <a:srgbClr val="242834"/>
      </a:dk1>
      <a:lt1>
        <a:srgbClr val="FFFFFF"/>
      </a:lt1>
      <a:dk2>
        <a:srgbClr val="002C5F"/>
      </a:dk2>
      <a:lt2>
        <a:srgbClr val="FFFFFF"/>
      </a:lt2>
      <a:accent1>
        <a:srgbClr val="005AAA"/>
      </a:accent1>
      <a:accent2>
        <a:srgbClr val="E70F47"/>
      </a:accent2>
      <a:accent3>
        <a:srgbClr val="00BEF3"/>
      </a:accent3>
      <a:accent4>
        <a:srgbClr val="9269C9"/>
      </a:accent4>
      <a:accent5>
        <a:srgbClr val="FF6418"/>
      </a:accent5>
      <a:accent6>
        <a:srgbClr val="009A49"/>
      </a:accent6>
      <a:hlink>
        <a:srgbClr val="4E41CC"/>
      </a:hlink>
      <a:folHlink>
        <a:srgbClr val="D65D8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16200000" scaled="1"/>
          <a:tileRect/>
        </a:gradFill>
        <a:ln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2"/>
            </a:solidFill>
          </a:defRPr>
        </a:defPPr>
      </a:lstStyle>
      <a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a:style>
    </a:spDef>
  </a:objectDefaults>
  <a:extraClrSchemeLst/>
  <a:extLst>
    <a:ext uri="{05A4C25C-085E-4340-85A3-A5531E510DB2}">
      <thm15:themeFamily xmlns:thm15="http://schemas.microsoft.com/office/thememl/2012/main" name="ГУАП презентация курса.potx" id="{0DF838E0-DD05-488A-AC6B-E98ACB4C24AD}" vid="{AFBC0B84-8B15-49D7-9C5E-B813409B8E8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ГУАП презентация курса - шаблон</Template>
  <TotalTime>231</TotalTime>
  <Words>273</Words>
  <Application>Microsoft Office PowerPoint</Application>
  <PresentationFormat>Широкоэкранный</PresentationFormat>
  <Paragraphs>39</Paragraphs>
  <Slides>8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8</vt:i4>
      </vt:variant>
    </vt:vector>
  </HeadingPairs>
  <TitlesOfParts>
    <vt:vector size="14" baseType="lpstr">
      <vt:lpstr>Calibri</vt:lpstr>
      <vt:lpstr>Arial</vt:lpstr>
      <vt:lpstr>Wingdings</vt:lpstr>
      <vt:lpstr>Титульная страница</vt:lpstr>
      <vt:lpstr>Текстовые блоки</vt:lpstr>
      <vt:lpstr>Дополнительные блоки</vt:lpstr>
      <vt:lpstr>CRM-система для ведения студенческих проектов «MadProjects»</vt:lpstr>
      <vt:lpstr>Цели и задачи</vt:lpstr>
      <vt:lpstr> Ключевые возможности </vt:lpstr>
      <vt:lpstr> Технологический стек</vt:lpstr>
      <vt:lpstr>Архитектура</vt:lpstr>
      <vt:lpstr>Демонстрация</vt:lpstr>
      <vt:lpstr>Демонстрация</vt:lpstr>
      <vt:lpstr>Демонстрация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Фирменный стиль  презентаций</dc:title>
  <dc:subject/>
  <dc:creator>Алексей Малышев</dc:creator>
  <cp:keywords/>
  <dc:description/>
  <cp:lastModifiedBy>kaelesty</cp:lastModifiedBy>
  <cp:revision>25</cp:revision>
  <dcterms:created xsi:type="dcterms:W3CDTF">2023-06-16T08:15:39Z</dcterms:created>
  <dcterms:modified xsi:type="dcterms:W3CDTF">2026-04-07T06:56:22Z</dcterms:modified>
  <cp:category/>
</cp:coreProperties>
</file>